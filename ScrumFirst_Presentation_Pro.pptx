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2560320" cy="508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29E4E"/>
                </a:solidFill>
                <a:latin typeface="Calibri"/>
              </a:rPr>
              <a:t>PRÉSENTATION EXÉCUTIVE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ScrumFirst
L'Agilité à l'Échelle pour les Projets Data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E8EBF0"/>
                </a:solidFill>
                <a:latin typeface="Calibri"/>
              </a:rPr>
              <a:t>Piloter la valeur continue · Automatiser la gouvernance · Structurer le DataOps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303520"/>
            <a:ext cx="2926080" cy="502920"/>
          </a:xfrm>
          <a:prstGeom prst="roundRect">
            <a:avLst>
              <a:gd name="adj" fmla="val 2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2180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v1.0  •  Direction Data &amp;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8EBF0"/>
                </a:solidFill>
                <a:latin typeface="Calibri"/>
              </a:rPr>
              <a:t>Confidentiel — Usage interne uniquement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87A2E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1220"/>
                </a:solidFill>
                <a:latin typeface="Calibri"/>
              </a:rPr>
              <a:t>Contexte : Le Mur Invisible du DataOps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E5E"/>
                </a:solidFill>
                <a:latin typeface="Calibri"/>
              </a:rPr>
              <a:t>Pourquoi les projets Data/IA échouent à l'industrialisation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2286000" cy="508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383280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603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🎯  Désalignement Métier–Tech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3756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2D3E5E"/>
                </a:solidFill>
                <a:latin typeface="Calibri"/>
              </a:rPr>
              <a:t>Backlogs fragmentés, priorités opaques,
ROI non mesuré avant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33172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331720"/>
            <a:ext cx="3383280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5603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🔧  Dette Technique Silencieuse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33756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2D3E5E"/>
                </a:solidFill>
                <a:latin typeface="Calibri"/>
              </a:rPr>
              <a:t>Pas de Definition of Done uniforme,
pipelines non testés, modèles non versionnés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33172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2331720"/>
            <a:ext cx="3383280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5603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👁️  Boîte Noire 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33756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2D3E5E"/>
                </a:solidFill>
                <a:latin typeface="Calibri"/>
              </a:rPr>
              <a:t>Aucune traçabilité des décisions,
audit impossible, conformité risquée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0644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29E4E"/>
                </a:solidFill>
                <a:latin typeface="Calibri"/>
              </a:rPr>
              <a:t>« 87 % des projets Data n'atteignent jamais la production »  —  Gartner 2023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29E4E"/>
                </a:solidFill>
                <a:latin typeface="Calibri"/>
              </a:rPr>
              <a:t>ScrumFirst  •  Direction Data &amp; Intelligence Artificielle  • 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87A2E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1220"/>
                </a:solidFill>
                <a:latin typeface="Calibri"/>
              </a:rPr>
              <a:t>ScrumFirst : Le DataOps Nativement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E5E"/>
                </a:solidFill>
                <a:latin typeface="Calibri"/>
              </a:rPr>
              <a:t>Une plateforme qui structure, gouverne et accélère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2286000" cy="508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9928" y="2331720"/>
            <a:ext cx="1188720" cy="118872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9928" y="2624328"/>
            <a:ext cx="1188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0B1220"/>
                </a:solidFill>
                <a:latin typeface="Calibr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490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Backlog Unifié
&amp; Value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38912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2D3E5E"/>
                </a:solidFill>
                <a:latin typeface="Calibri"/>
              </a:rPr>
              <a:t>Un seul Product Backlog.
Chaque item porte un score
de valeur métier quantifié.</a:t>
            </a:r>
          </a:p>
        </p:txBody>
      </p:sp>
      <p:sp>
        <p:nvSpPr>
          <p:cNvPr id="11" name="Oval 10"/>
          <p:cNvSpPr/>
          <p:nvPr/>
        </p:nvSpPr>
        <p:spPr>
          <a:xfrm>
            <a:off x="5321808" y="2331720"/>
            <a:ext cx="1188720" cy="118872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8" y="2624328"/>
            <a:ext cx="1188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0B1220"/>
                </a:solidFill>
                <a:latin typeface="Calibr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37490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Definition of Done
Automatisée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438912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2D3E5E"/>
                </a:solidFill>
                <a:latin typeface="Calibri"/>
              </a:rPr>
              <a:t>Critères non négociables
(tests, lineage, versioning).
Blocage natif si DoD &lt; 100 %.</a:t>
            </a:r>
          </a:p>
        </p:txBody>
      </p:sp>
      <p:sp>
        <p:nvSpPr>
          <p:cNvPr id="15" name="Oval 14"/>
          <p:cNvSpPr/>
          <p:nvPr/>
        </p:nvSpPr>
        <p:spPr>
          <a:xfrm>
            <a:off x="8933688" y="2331720"/>
            <a:ext cx="1188720" cy="118872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2624328"/>
            <a:ext cx="1188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0B1220"/>
                </a:solidFill>
                <a:latin typeface="Calibri"/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37490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Multi-Équipes
Parallèles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38912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2D3E5E"/>
                </a:solidFill>
                <a:latin typeface="Calibri"/>
              </a:rPr>
              <a:t>Team Data Eng. &amp; Data Science
sur le même backlog.
Sprints étanches, zéro conflit.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28" y="29718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7A2E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9718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7A2E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806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Résultats attendus à 6 mois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6263640"/>
            <a:ext cx="2594610" cy="1005840"/>
          </a:xfrm>
          <a:prstGeom prst="roundRect">
            <a:avLst>
              <a:gd name="adj" fmla="val 6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6355080"/>
            <a:ext cx="23202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Time-to-Value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6675120"/>
            <a:ext cx="232029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−40 %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0138" y="6263640"/>
            <a:ext cx="2594610" cy="100584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7298" y="6355080"/>
            <a:ext cx="23202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Dette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7298" y="6675120"/>
            <a:ext cx="232029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−60 %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1908" y="6263640"/>
            <a:ext cx="2594610" cy="10058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9068" y="6355080"/>
            <a:ext cx="23202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Taux Mise en Prod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9068" y="6675120"/>
            <a:ext cx="232029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×2.5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53678" y="6263640"/>
            <a:ext cx="2594610" cy="1005840"/>
          </a:xfrm>
          <a:prstGeom prst="roundRect">
            <a:avLst>
              <a:gd name="adj" fmla="val 6000"/>
            </a:avLst>
          </a:prstGeom>
          <a:solidFill>
            <a:srgbClr val="F2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0838" y="6355080"/>
            <a:ext cx="232029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Audit Conformité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0838" y="6675120"/>
            <a:ext cx="232029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473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29E4E"/>
                </a:solidFill>
                <a:latin typeface="Calibri"/>
              </a:rPr>
              <a:t>ScrumFirst  •  Direction Data &amp; Intelligence Artificielle  • 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87A2E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1220"/>
                </a:solidFill>
                <a:latin typeface="Calibri"/>
              </a:rPr>
              <a:t>Architecture : Gouvernance Native &amp;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E5E"/>
                </a:solidFill>
                <a:latin typeface="Calibri"/>
              </a:rPr>
              <a:t>Modèle de données relationnel strict • Prisma ORM •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2286000" cy="508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Couche 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E8EBF0"/>
                </a:solidFill>
                <a:latin typeface="Calibri"/>
              </a:rPr>
              <a:t>Product ←→ BacklogItem ←→ Sprint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31720"/>
            <a:ext cx="7863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42316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Détails : Product ←→ BacklogItem ←→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432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D3E5E"/>
                </a:solidFill>
                <a:latin typeface="Calibri"/>
              </a:rPr>
              <a:t>▸ Product Owner unique · Priorisation value-driven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E5E"/>
                </a:solidFill>
                <a:latin typeface="Calibri"/>
              </a:rPr>
              <a:t>▸ BacklogItem : type (feature/tech/debt) + score métier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Couche Exécution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E8EBF0"/>
                </a:solidFill>
                <a:latin typeface="Calibri"/>
              </a:rPr>
              <a:t>DailyNote • Increment • DoDChecklist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3657600"/>
            <a:ext cx="7863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74904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Détails : DailyNote • Increment • DoDChecklist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0690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D3E5E"/>
                </a:solidFill>
                <a:latin typeface="Calibri"/>
              </a:rPr>
              <a:t>▸ Sprint verrouillé par équipe (1 actif max)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E5E"/>
                </a:solidFill>
                <a:latin typeface="Calibri"/>
              </a:rPr>
              <a:t>▸ DoDChecklist : 8 critères automatisés (CI/CD)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83480"/>
            <a:ext cx="2743200" cy="1097280"/>
          </a:xfrm>
          <a:prstGeom prst="roundRect">
            <a:avLst>
              <a:gd name="adj" fmla="val 6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Couche Sécurité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E8EBF0"/>
                </a:solidFill>
                <a:latin typeface="Calibri"/>
              </a:rPr>
              <a:t>RoleMatrix (R/W) • AuditLog • Row-Level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983480"/>
            <a:ext cx="7863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507492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Détails : RoleMatrix (R/W) • AuditLog • Row-Level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3949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2D3E5E"/>
                </a:solidFill>
                <a:latin typeface="Calibri"/>
              </a:rPr>
              <a:t>▸ Matrice rôles codée en dur (ScrumTeam / Stakeholder)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E5E"/>
                </a:solidFill>
                <a:latin typeface="Calibri"/>
              </a:rPr>
              <a:t>▸ RLS Postgres : lecture seule stakeholders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29E4E"/>
                </a:solidFill>
                <a:latin typeface="Calibri"/>
              </a:rPr>
              <a:t>ScrumFirst  •  Direction Data &amp; Intelligence Artificielle  • 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87A2E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1220"/>
                </a:solidFill>
                <a:latin typeface="Calibri"/>
              </a:rPr>
              <a:t>Rituels Agiles : Traçabilité Totale &amp; Auditabilité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E5E"/>
                </a:solidFill>
                <a:latin typeface="Calibri"/>
              </a:rPr>
              <a:t>La « Time Machine » du projet — Chaque décision historisée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2286000" cy="508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4688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0B1220"/>
                </a:solidFill>
                <a:latin typeface="Calibri"/>
              </a:rPr>
              <a:t>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4688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Daily Scrum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880360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2D3E5E"/>
                </a:solidFill>
                <a:latin typeface="Calibri"/>
              </a:rPr>
              <a:t>Compteur dynamique (ex: 12/20)
Clôture définitive par Scrum Master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33172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4688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0B1220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4688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Sprint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2880360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2D3E5E"/>
                </a:solidFill>
                <a:latin typeface="Calibri"/>
              </a:rPr>
              <a:t>Sélection value-driven depuis backlog global
Verrou anti-double-sprint par équipe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8056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6177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0B1220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6177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Sprint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5029200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2D3E5E"/>
                </a:solidFill>
                <a:latin typeface="Calibri"/>
              </a:rPr>
              <a:t>Incrément validé si DoD = 100 %
Rejet possible → retour backlog + purge auto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53328" y="448056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46177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0B1220"/>
                </a:solidFill>
                <a:latin typeface="Calibr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6177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Rétrospective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5029200"/>
            <a:ext cx="3931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2D3E5E"/>
                </a:solidFill>
                <a:latin typeface="Calibri"/>
              </a:rPr>
              <a:t>Notes typées (Avancement/Blocage/Annonce)
Filtres [Produit → Sprint → Timeline]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473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29E4E"/>
                </a:solidFill>
                <a:latin typeface="Calibri"/>
              </a:rPr>
              <a:t>ScrumFirst  •  Direction Data &amp; Intelligence Artificielle  • 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87A2E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1220"/>
                </a:solidFill>
                <a:latin typeface="Calibri"/>
              </a:rPr>
              <a:t>Business Case : ROI Projeté sur 12 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E5E"/>
                </a:solidFill>
                <a:latin typeface="Calibri"/>
              </a:rPr>
              <a:t>Investissement maîtrisé • Valeur mesurable • Risque réduit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2286000" cy="508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4688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D3E5E"/>
                </a:solidFill>
                <a:latin typeface="Calibri"/>
              </a:rPr>
              <a:t>Gain Productivité
Équipes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B1220"/>
                </a:solidFill>
                <a:latin typeface="Calibri"/>
              </a:rPr>
              <a:t>+35 %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29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▲ Vélocité stable,
moins de réouverture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331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4688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D3E5E"/>
                </a:solidFill>
                <a:latin typeface="Calibri"/>
              </a:rPr>
              <a:t>Délai Mise en Prod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7889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B1220"/>
                </a:solidFill>
                <a:latin typeface="Calibri"/>
              </a:rPr>
              <a:t>−45 %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429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▲ DoD auto + CI/CD
intégré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331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4688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D3E5E"/>
                </a:solidFill>
                <a:latin typeface="Calibri"/>
              </a:rPr>
              <a:t>Coût Non-Qualité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7889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B1220"/>
                </a:solidFill>
                <a:latin typeface="Calibri"/>
              </a:rPr>
              <a:t>−60 %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429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▲ Détection précoce,
purge auto anomalies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2331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24688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D3E5E"/>
                </a:solidFill>
                <a:latin typeface="Calibri"/>
              </a:rPr>
              <a:t>Conformité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78892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B1220"/>
                </a:solidFill>
                <a:latin typeface="Calibri"/>
              </a:rPr>
              <a:t>100 %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3429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▲ Traçabilité native,
export 1-clic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348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Investissement vs Retour Estimé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" y="484632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Investissement (k€)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Gain Annuel (k€)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Licences &amp;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Intégration &amp; Formation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B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Économies / An (productivité, qualité, conformité)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B1220"/>
                          </a:solidFill>
                          <a:latin typeface="Calibri"/>
                        </a:defRPr>
                      </a:pPr>
                      <a:r>
                        <a:t>3.1×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29E4E"/>
                </a:solidFill>
                <a:latin typeface="Calibri"/>
              </a:rPr>
              <a:t>ScrumFirst  •  Direction Data &amp; Intelligence Artificielle  •  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E87A2E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1220"/>
                </a:solidFill>
                <a:latin typeface="Calibri"/>
              </a:rPr>
              <a:t>Roadmap : 3 Phases · 9 Mois · Go/No-Go Clairs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E5E"/>
                </a:solidFill>
                <a:latin typeface="Calibri"/>
              </a:rPr>
              <a:t>Approche itérative, risques maîtrisés, valeur précoce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2286000" cy="508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3429000" cy="640080"/>
          </a:xfrm>
          <a:prstGeom prst="roundRect">
            <a:avLst>
              <a:gd name="adj" fmla="val 6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04872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1 — Fondation
Mois 1–3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1752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20040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✅  Setup plateforme (infra, auth, modèle Prisma)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✅  Migration backlog existant → ScrumFirst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✅  DoD v1 configurée + CI/CD basique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🎯  GO/NO-GO : 1 équipe pilote opérationnelle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331720"/>
            <a:ext cx="3429000" cy="6400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404872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2 — Échelle
Mois 4–6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01752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20040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🔄  Onboarding Team Data Science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🔄  Multi-sprints parallèles activés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🔄  Value Scoring affiné (métier + tech)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🎯  GO/NO-GO : 2 équipes · vélocité ×2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331720"/>
            <a:ext cx="3429000" cy="64008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404872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3 — Maturité
Mois 7–9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301752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20040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D3E5E"/>
                </a:solidFill>
                <a:latin typeface="Calibri"/>
              </a:rPr>
              <a:t>📊  Dashboard exécutif temps réel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D3E5E"/>
                </a:solidFill>
                <a:latin typeface="Calibri"/>
              </a:rPr>
              <a:t>📊  Data Lineage complet + audit export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2D3E5E"/>
                </a:solidFill>
                <a:latin typeface="Calibri"/>
              </a:rPr>
              <a:t>📊  RLS + conformité RGPD/ISO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1">
                <a:solidFill>
                  <a:srgbClr val="16A34A"/>
                </a:solidFill>
                <a:latin typeface="Calibri"/>
              </a:rPr>
              <a:t>🎯  GO/NO-GO : Industrialisation complète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29E4E"/>
                </a:solidFill>
                <a:latin typeface="Calibri"/>
              </a:rPr>
              <a:t>ScrumFirst  •  Direction Data &amp; Intelligence Artificielle  • 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29E4E"/>
                </a:solidFill>
                <a:latin typeface="Calibri"/>
              </a:rPr>
              <a:t>DÉCISION REQUISE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Valider le lancement de ScrumFirst
Phase 1 — Fondation (3 mois)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0B1220"/>
                </a:solidFill>
                <a:latin typeface="Calibri"/>
              </a:rP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Équipe Pilote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8EBF0"/>
                </a:solidFill>
                <a:latin typeface="Calibri"/>
              </a:rPr>
              <a:t>1 PO + 1 SM + 5 Dev (Data Eng)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0B1220"/>
                </a:solidFill>
                <a:latin typeface="Calibr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Budget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06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8EBF0"/>
                </a:solidFill>
                <a:latin typeface="Calibri"/>
              </a:rPr>
              <a:t>200 k€ (infra + formation + intégration)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918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600" b="0">
                <a:solidFill>
                  <a:srgbClr val="0B1220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840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Démarrage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06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8EBF0"/>
                </a:solidFill>
                <a:latin typeface="Calibri"/>
              </a:rPr>
              <a:t>Sprint 0 — semaine prochaine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57200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90288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➤  APPROUVER LE 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BF0"/>
                </a:solidFill>
                <a:latin typeface="Calibri"/>
              </a:rPr>
              <a:t>Contact : [Votre Nom]  •  Direction Data &amp; IA  •  [email]  • 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