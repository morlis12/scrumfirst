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200" cy="41148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ScrumFirst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E6D6"/>
                </a:solidFill>
                <a:latin typeface="Calibri"/>
              </a:defRPr>
            </a:pPr>
            <a:r>
              <a:t>Suivi Scrum natif pour Next.js · Prisma ·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114800"/>
            <a:ext cx="2743200" cy="38100"/>
          </a:xfrm>
          <a:prstGeom prst="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Application complète de gestion Scrum : Product Backlog, Sprint Planning, suivi Kanban,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Daily Scrums répétés, compteurs dynamiques, Rétrospective &amp; Review, rôles multi-équipes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AACC"/>
                </a:solidFill>
                <a:latin typeface="Calibri"/>
              </a:defRPr>
            </a:pPr>
            <a:r>
              <a:t>Présentation pour Direction Data &amp;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Le Défi : Pourquoi un outil Scrum pour la Data &amp; IA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4A4A4A"/>
                </a:solidFill>
                <a:latin typeface="Calibri"/>
              </a:defRPr>
            </a:pPr>
            <a:r>
              <a:t> ⚡ Les équipes Data manquent d'une visibilité claire sur l'avancement des projets IA</a:t>
            </a:r>
          </a:p>
          <a:p>
            <a:pPr>
              <a:spcAft>
                <a:spcPts val="600"/>
              </a:spcAft>
              <a:defRPr sz="1700">
                <a:solidFill>
                  <a:srgbClr val="4A4A4A"/>
                </a:solidFill>
                <a:latin typeface="Calibri"/>
              </a:defRPr>
            </a:pPr>
            <a:r>
              <a:t> 📊 Absence de suivi structuré des épics, features et des Daily Scrums répétés</a:t>
            </a:r>
          </a:p>
          <a:p>
            <a:pPr>
              <a:spcAft>
                <a:spcPts val="600"/>
              </a:spcAft>
              <a:defRPr sz="1700">
                <a:solidFill>
                  <a:srgbClr val="4A4A4A"/>
                </a:solidFill>
                <a:latin typeface="Calibri"/>
              </a:defRPr>
            </a:pPr>
            <a:r>
              <a:t> 👥 Multiples équipes Data travaillent en parallèle sans coordination harmonisée</a:t>
            </a:r>
          </a:p>
          <a:p>
            <a:pPr>
              <a:spcAft>
                <a:spcPts val="600"/>
              </a:spcAft>
              <a:defRPr sz="1700">
                <a:solidFill>
                  <a:srgbClr val="4A4A4A"/>
                </a:solidFill>
                <a:latin typeface="Calibri"/>
              </a:defRPr>
            </a:pPr>
            <a:r>
              <a:t> 📅 La répétition quotidienne des Daily Scrums n'est pas parameterisable ni tracée</a:t>
            </a:r>
          </a:p>
          <a:p>
            <a:pPr>
              <a:spcAft>
                <a:spcPts val="600"/>
              </a:spcAft>
              <a:defRPr sz="1700">
                <a:solidFill>
                  <a:srgbClr val="4A4A4A"/>
                </a:solidFill>
                <a:latin typeface="Calibri"/>
              </a:defRPr>
            </a:pPr>
            <a:r>
              <a:t> 🎯 La Sprint Review est dispersée : pas de synthèse Team ni de retours Stakeholder structurés</a:t>
            </a:r>
          </a:p>
          <a:p>
            <a:pPr>
              <a:spcAft>
                <a:spcPts val="600"/>
              </a:spcAft>
              <a:defRPr sz="1700">
                <a:solidFill>
                  <a:srgbClr val="4A4A4A"/>
                </a:solidFill>
                <a:latin typeface="Calibri"/>
              </a:defRPr>
            </a:pPr>
            <a:r>
              <a:t> 🔧 Les outils existants (Jira, Trello) ne s'intègrent pas à notre stack Tech (Next.js/Prisma)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669280"/>
            <a:ext cx="2743200" cy="254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6FEA"/>
                </a:solidFill>
                <a:latin typeface="Calibri"/>
              </a:defRPr>
            </a:pPr>
            <a:r>
              <a:t>Question clé : Comment passer d'un suivi artisanal à une gouvernance Scrum native et mesurable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La Solution : ScrumFirst — Une réponse native à nos défis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GESTION DE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Calibri"/>
              </a:defRPr>
            </a:pPr>
            <a:r>
              <a:t>· Product Backlog · Sprint Planning · Kanban séquentiel · DoD unique par produit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474720" cy="228600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DAILY &amp; 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Calibri"/>
              </a:defRPr>
            </a:pPr>
            <a:r>
              <a:t>· Daily Scrums répétés · Compteur X / TOTAL modifiable · Clôture définitive · Chronos time-box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71600"/>
            <a:ext cx="3474720" cy="228600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REVIEW &amp; RÉTROSPECTIVE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Calibri"/>
              </a:defRPr>
            </a:pPr>
            <a:r>
              <a:t>· Sprint Review (2 colonnes · synthèse Team / retours Stakeholder) · Plan d'actions · Idées Post-its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51560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✅ Une application full-stack Next.js + Prisma + PostgreSQL — aucun outil tiers, zéro licence, hébergement libre ou 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✅ Conçu pour la Scrum Team : rôles PO/SM/Dev/Stakeholder respectés · Permet sprints parallèles sur un même produit · Migration progressive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Fonctionnalités Clés — Ce que l'outil gère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86965568000"/>
            <a:ext cx="5303520" cy="82296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86965568000"/>
            <a:ext cx="530352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86965659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🗂️ Product Backlog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86965979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Product Backlog, estimation, Story Points, statut READY/REFINED/DONE, tri et ordonnancement PO uniquement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86965568000"/>
            <a:ext cx="5303520" cy="82296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086965568000"/>
            <a:ext cx="530352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086965659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📅 Sprint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86965979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Création sprint, items READY, time-box, objectif, chronos automatiques, gardes PO/SM/Dev · Sprints parallèles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64899296000"/>
            <a:ext cx="5303520" cy="82296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64899296000"/>
            <a:ext cx="530352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96489938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📊 Suivi Sprint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96489970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Kanban TODO→IN_PROGRESS→REVIEW→DOD, DoD 100% → Incrément, déplacement persistant, historique notes Daily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64899296000"/>
            <a:ext cx="5303520" cy="82296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64899296000"/>
            <a:ext cx="530352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6489938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🔁 Daily Scrums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6489970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Compteur dynamique X / TOTAL (modifiable SM), ✓ Valider du jour, 🛑 Clôture définitive, barre verte, débloque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842833024000"/>
            <a:ext cx="5303520" cy="82296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842833024000"/>
            <a:ext cx="530352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842833115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📣 Sprint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842833435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2 colonnes : synthèse Scrum Team (écriture PO/SM/Dev, sh@ lecture seule) + retours Stakeholders (écriture sh@ uniquement)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842833024000"/>
            <a:ext cx="5303520" cy="82296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842833024000"/>
            <a:ext cx="530352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842833115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💡 Rétrospective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42833435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3 colonnes WENT_WELL / TO_IMPROVE / IDEAS, plan d'actions officiel, idées post-its persistées en 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7373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737360" cy="635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Next.js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App Router, Server Actions, typescript, Routes Handlers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371600"/>
            <a:ext cx="17373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371600"/>
            <a:ext cx="1737360" cy="635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Prisma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01168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PostgreSQL, schema.prisma, db push, migration sans pain, client 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8" y="1371600"/>
            <a:ext cx="17373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8" y="1371600"/>
            <a:ext cx="1737360" cy="63500"/>
          </a:xfrm>
          <a:prstGeom prst="rect">
            <a:avLst/>
          </a:prstGeom>
          <a:solidFill>
            <a:srgbClr val="6C0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8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8" y="201168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Base relationnelle, queries complexes, time-box, événements Scrum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7" y="1371600"/>
            <a:ext cx="17373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7" y="1371600"/>
            <a:ext cx="1737360" cy="63500"/>
          </a:xfrm>
          <a:prstGeom prst="rect">
            <a:avLst/>
          </a:prstGeom>
          <a:solidFill>
            <a:srgbClr val="0F6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17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7" y="201168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Charte sand-300 / navy-900, composants UI cohérents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6" y="1371600"/>
            <a:ext cx="17373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596" y="1371600"/>
            <a:ext cx="1737360" cy="63500"/>
          </a:xfrm>
          <a:prstGeom prst="rect">
            <a:avLst/>
          </a:prstGeom>
          <a:solidFill>
            <a:srgbClr val="651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6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6" y="201168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Suspense, SearchParams, useTransition, useRouter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15" y="1371600"/>
            <a:ext cx="17373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04115" y="1371600"/>
            <a:ext cx="1737360" cy="63500"/>
          </a:xfrm>
          <a:prstGeom prst="rect">
            <a:avLst/>
          </a:prstGeom>
          <a:solidFill>
            <a:srgbClr val="33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55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5" y="201168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Server Actions, authentification NextAuth v5, session JWT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029200"/>
            <a:ext cx="1051560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Aucun dépendant tiers — l'application est autonome, déploiable sur Vercel, Docker, ou auto-hébergée.</a:t>
            </a:r>
            <a:br/>
            <a:r>
              <a:t>Les données appartiennent entièrement à la structure — pas de collecte externe, pas de licence.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Retour sur Investissement &amp; Bénéfices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Calibri"/>
              </a:defRPr>
            </a:pPr>
            <a:r>
              <a:t>MÉTRIQUES CLÉS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✅ Visibilité temps réel sur l'avancement des épics IA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✅ Suivi quotidien des Daily Scrums avec compteur automatiquement incrémenté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✅ Clôture définitive des Daily → débloque Sprint Review instantanément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✅ Deux équipes peuvent mener des sprints parallèles sur un même produit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✅ Sprint Review structurée : synthèse Team + retours Stakeholder séparés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✅ Plan d'actions rétrospective officiel, pistes Post-its persistées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✅ Zero licence — coût total de possession ≈ 0 après déploiement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4754880"/>
          </a:xfrm>
          <a:prstGeom prst="round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03520" cy="381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Calibri"/>
              </a:defRPr>
            </a:pPr>
            <a:r>
              <a:t>BENEFICES OPERATIONNELS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🎯 Décisions basées données — chaque item, sprint, daily traçable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👥 Responsabilités claires : rôles PO/SM/Dev/Stakeholder respectés par garde serveur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⏱️ Gain de temps — pas d'outil externe, pas de synchronisation manuelle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📈 Qualité DoD — checklist unique partagée par toutes les équipes du produit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🔁 Amélioration continue — rétrospective structurée, idées d'action visibles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🚀 Déploiement rapide — Next.js + Prisma, prêt production en quelques minutes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Calibri"/>
              </a:defRPr>
            </a:pPr>
            <a:r>
              <a:t> 🔒 Sécurité — données en interne, pas de fuite vers des SaaS tiers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200" cy="4114800"/>
          </a:xfrm>
          <a:prstGeom prst="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Prochaines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2743200" cy="38100"/>
          </a:xfrm>
          <a:prstGeom prst="rect">
            <a:avLst/>
          </a:prstGeom>
          <a:solidFill>
            <a:srgbClr val="F5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Calibri"/>
              </a:defRPr>
            </a:pPr>
            <a:r>
              <a:t>▸ 1. Déploiement — npm run build → Vercel / Docker en &lt; 5 minutes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Calibri"/>
              </a:defRPr>
            </a:pPr>
            <a:r>
              <a:t>▸ 2. Configuration — variables d'environnement (.env), prisma db push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Calibri"/>
              </a:defRPr>
            </a:pPr>
            <a:r>
              <a:t>▸ 3. Seed initial — npm run seed pour créer les 4 comptes démo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Calibri"/>
              </a:defRPr>
            </a:pPr>
            <a:r>
              <a:t>▸ 4. Formation rapide — 1h pour PO/SM : interface et gardes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Calibri"/>
              </a:defRPr>
            </a:pPr>
            <a:r>
              <a:t>▸ 5. Premier sprint — création produit, équipe, backlog d'épics IA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Calibri"/>
              </a:defRPr>
            </a:pPr>
            <a:r>
              <a:t>▸ 6. Suivi — laisser la cascade auto-produit→équipe→sprint agir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9418320" cy="1097280"/>
          </a:xfrm>
          <a:prstGeom prst="roundRect">
            <a:avLst/>
          </a:prstGeom>
          <a:solidFill>
            <a:srgbClr val="2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512064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Prêt à offrir à votre Direction Data &amp; IA un outil Scrum natif, gratuit, et parfaitement adapté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AACC"/>
                </a:solidFill>
                <a:latin typeface="Calibri"/>
              </a:defRPr>
            </a:pPr>
            <a:r>
              <a:t>ScrumFirst — Parce que chaque équipe Data mérite de scrummer à la hauteur de ses défis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