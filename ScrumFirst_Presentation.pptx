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2057400"/>
            <a:ext cx="1554480" cy="3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75569"/>
                </a:solidFill>
                <a:latin typeface="Trebuchet MS"/>
              </a:rPr>
              <a:t>PRESENTATION EXECUTIVE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600" b="1">
                <a:solidFill>
                  <a:srgbClr val="0F172A"/>
                </a:solidFill>
                <a:latin typeface="Trebuchet MS"/>
              </a:rPr>
              <a:t>ScrumFirst : L'Agilité à l'Échelle
pour les Projets Data &amp;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1E293B"/>
                </a:solidFill>
                <a:latin typeface="Calibri"/>
              </a:rPr>
              <a:t>Piloter la valeur continue, automatiser la gouvernance
et structurer le DataOps.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5806440"/>
            <a:ext cx="3108960" cy="19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475569"/>
                </a:solidFill>
                <a:latin typeface="Calibri"/>
              </a:rPr>
              <a:t>Présentation Exécutive - Direction Data &amp; Intelligence Artificielle.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75569"/>
                </a:solidFill>
                <a:latin typeface="Trebuchet M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Trebuchet MS"/>
              </a:rPr>
              <a:t>Pourquoi ScrumFirst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Répondre aux défis du DataOps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93392"/>
            <a:ext cx="2011680" cy="2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231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Aligner la R&amp;D IA et le Métier</a:t>
            </a:r>
            <a:r>
              <a:rPr sz="1700" b="0">
                <a:solidFill>
                  <a:srgbClr val="1E293B"/>
                </a:solidFill>
                <a:latin typeface="Calibri"/>
              </a:rPr>
              <a:t> : Fin des projets boîtes noires grâce à un Product Backlog unique axé sur un score de valeur métier.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Maîtriser la Qualité des Pipelines</a:t>
            </a:r>
            <a:r>
              <a:rPr sz="1700" b="0">
                <a:solidFill>
                  <a:srgbClr val="1E293B"/>
                </a:solidFill>
                <a:latin typeface="Calibri"/>
              </a:rPr>
              <a:t> : Fin de la dette technique via l'automatisation stricte et obligatoire des critères de qualité.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Traçabilité (Data Lineage)</a:t>
            </a:r>
            <a:r>
              <a:rPr sz="1700" b="0">
                <a:solidFill>
                  <a:srgbClr val="1E293B"/>
                </a:solidFill>
                <a:latin typeface="Calibri"/>
              </a:rPr>
              <a:t> : Historisation complète des cycles de développement, des blocages et des décisions d'équipe.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19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ScrumFirst  |  Direction Data &amp; Intelligence Artificielle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75569"/>
                </a:solidFill>
                <a:latin typeface="Trebuchet M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Trebuchet MS"/>
              </a:rPr>
              <a:t>Sécurisation des Livrables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La Révolution de la Qualité : la Definition of Done (DoD) — Gouvernance automatisée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93392"/>
            <a:ext cx="2011680" cy="2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231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La Grille DoD Globale</a:t>
            </a:r>
            <a:r>
              <a:rPr sz="1700" b="0">
                <a:solidFill>
                  <a:srgbClr val="1E293B"/>
                </a:solidFill>
                <a:latin typeface="Calibri"/>
              </a:rPr>
              <a:t> : Critères de qualité non négociables (tests unitaires passants, versioning de modèle validé, non-régression).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Blocage strict à la source</a:t>
            </a:r>
            <a:r>
              <a:rPr sz="1700" b="0">
                <a:solidFill>
                  <a:srgbClr val="1E293B"/>
                </a:solidFill>
                <a:latin typeface="Calibri"/>
              </a:rPr>
              <a:t> : Impossible de passer un item à « DONE » ou de le promouvoir en Incrément si la DoD est &lt; 100 %.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Droit à l'erreur intégré</a:t>
            </a:r>
            <a:r>
              <a:rPr sz="1700" b="0">
                <a:solidFill>
                  <a:srgbClr val="1E293B"/>
                </a:solidFill>
                <a:latin typeface="Calibri"/>
              </a:rPr>
              <a:t> : Rejet d'un item de « DONE » vers le Backlog avec purge automatique des critères en cas d'anomalie en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19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ScrumFirst  |  Direction Data &amp; Intelligence Artificielle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75569"/>
                </a:solidFill>
                <a:latin typeface="Trebuchet M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Trebuchet MS"/>
              </a:rPr>
              <a:t>Une Architecture Conçue pour le Passage à l'Échelle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Flexibilité Organisationnelle : le Multi-Équipes Parallèle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93392"/>
            <a:ext cx="2011680" cy="2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231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Source Unique de Vérité</a:t>
            </a:r>
            <a:r>
              <a:rPr sz="1700" b="0">
                <a:solidFill>
                  <a:srgbClr val="1E293B"/>
                </a:solidFill>
                <a:latin typeface="Calibri"/>
              </a:rPr>
              <a:t> : Un seul Product Backlog global pour le produit Data, géré par le Product Owner.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Sprints Parallèles et Étanches</a:t>
            </a:r>
            <a:r>
              <a:rPr sz="1700" b="0">
                <a:solidFill>
                  <a:srgbClr val="1E293B"/>
                </a:solidFill>
                <a:latin typeface="Calibri"/>
              </a:rPr>
              <a:t> : Plusieurs équipes (Team Data Engineering, Team Data Science) travaillent sur le même backlog.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Verrous de Sécurité Contextuels</a:t>
            </a:r>
            <a:r>
              <a:rPr sz="1700" b="0">
                <a:solidFill>
                  <a:srgbClr val="1E293B"/>
                </a:solidFill>
                <a:latin typeface="Calibri"/>
              </a:rPr>
              <a:t> : Algorithme interdisant à une même équipe d'ouvrir deux sprints actifs, sans bloquer les autres équipes.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19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ScrumFirst  |  Direction Data &amp; Intelligence Artificielle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75569"/>
                </a:solidFill>
                <a:latin typeface="Trebuchet M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Trebuchet MS"/>
              </a:rPr>
              <a:t>Traçabilité Absolue des Rituels Agiles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La « Time Machine » du Projet : Auditabilité &amp; Rétrospectives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93392"/>
            <a:ext cx="2011680" cy="2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231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Compteur et Suivi des Daily</a:t>
            </a:r>
            <a:r>
              <a:rPr sz="1700" b="0">
                <a:solidFill>
                  <a:srgbClr val="1E293B"/>
                </a:solidFill>
                <a:latin typeface="Calibri"/>
              </a:rPr>
              <a:t> : Suivi dynamique des Daily Scrums quotidiens (ex : X / 20) avec clôture définitive par le Scrum Master.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Typage des Notes Quotidiennes</a:t>
            </a:r>
            <a:r>
              <a:rPr sz="1700" b="0">
                <a:solidFill>
                  <a:srgbClr val="1E293B"/>
                </a:solidFill>
                <a:latin typeface="Calibri"/>
              </a:rPr>
              <a:t> : Historique catégorisé par nature d'événement (Avancement, Obstacle/Blocage, Annonce).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Interface Épurée par Filtres</a:t>
            </a:r>
            <a:r>
              <a:rPr sz="1700" b="0">
                <a:solidFill>
                  <a:srgbClr val="1E293B"/>
                </a:solidFill>
                <a:latin typeface="Calibri"/>
              </a:rPr>
              <a:t> : Sélection instantanée [Produit ➔ Sprint ➔ Timeline] évitant la surcharge cognitive pour l'audit.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19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ScrumFirst  |  Direction Data &amp; Intelligence Artificielle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75569"/>
                </a:solidFill>
                <a:latin typeface="Trebuchet M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Trebuchet MS"/>
              </a:rPr>
              <a:t>Un Moteur Relationnel Robuste et Performant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Architecture Technique &amp; Modèle de Données (Prisma / Postgres)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93392"/>
            <a:ext cx="2011680" cy="2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231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Modélisation SQL Propre</a:t>
            </a:r>
            <a:r>
              <a:rPr sz="1700" b="0">
                <a:solidFill>
                  <a:srgbClr val="1E293B"/>
                </a:solidFill>
                <a:latin typeface="Calibri"/>
              </a:rPr>
              <a:t> : Tables interconnectées [Product ➔ BacklogItem ➔ Sprint ➔ Increment ➔ DailyNote].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Optimisation Algorithmique</a:t>
            </a:r>
            <a:r>
              <a:rPr sz="1700" b="0">
                <a:solidFill>
                  <a:srgbClr val="1E293B"/>
                </a:solidFill>
                <a:latin typeface="Calibri"/>
              </a:rPr>
              <a:t> : Indexations complexes sur les clés stratégiques (teamId, productId, status) pour des temps de réponse instantanés sous forte charge.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▪  </a:t>
            </a:r>
            <a:r>
              <a:rPr sz="1700" b="1">
                <a:solidFill>
                  <a:srgbClr val="0F172A"/>
                </a:solidFill>
                <a:latin typeface="Calibri"/>
              </a:rPr>
              <a:t>Sécurité des Rôles</a:t>
            </a:r>
            <a:r>
              <a:rPr sz="1700" b="0">
                <a:solidFill>
                  <a:srgbClr val="1E293B"/>
                </a:solidFill>
                <a:latin typeface="Calibri"/>
              </a:rPr>
              <a:t> : Matrice de droits d'accès étanche codée en dur (Scrum Team en écriture / Stakeholders en lecture seule absolue).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19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ScrumFirst  |  Direction Data &amp; Intelligence Artificielle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